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658368"/>
          </a:xfrm>
          <a:prstGeom prst="rect">
            <a:avLst/>
          </a:prstGeom>
          <a:solidFill>
            <a:srgbClr val="235EA0"/>
          </a:solidFill>
          <a:ln>
            <a:solidFill>
              <a:srgbClr val="23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10881360" cy="384048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162B48"/>
                </a:solidFill>
                <a:latin typeface="Aptos"/>
              </a:rPr>
              <a:t>Regression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86384"/>
            <a:ext cx="10607040" cy="237744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66576"/>
                </a:solidFill>
                <a:latin typeface="Aptos"/>
              </a:rPr>
              <a:t>Cross-validation performance and hold-out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61872"/>
            <a:ext cx="10908792" cy="393192"/>
          </a:xfrm>
          <a:prstGeom prst="rect">
            <a:avLst/>
          </a:prstGeom>
          <a:solidFill>
            <a:srgbClr val="162B48"/>
          </a:solidFill>
          <a:ln>
            <a:solidFill>
              <a:srgbClr val="16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971800" cy="356616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280160"/>
            <a:ext cx="1143000" cy="356616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CV R²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80160"/>
            <a:ext cx="960120" cy="356616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Test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280160"/>
            <a:ext cx="1051560" cy="356616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Test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960120" cy="356616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Test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1280160"/>
            <a:ext cx="2788920" cy="356616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55063"/>
            <a:ext cx="10908792" cy="429768"/>
          </a:xfrm>
          <a:prstGeom prst="rect">
            <a:avLst/>
          </a:prstGeom>
          <a:solidFill>
            <a:srgbClr val="E1EFFF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68779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668779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0.9263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668779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0.9777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668779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8.1407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668779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6.6821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1668779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Best test 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84831"/>
            <a:ext cx="10908792" cy="429768"/>
          </a:xfrm>
          <a:prstGeom prst="rect">
            <a:avLst/>
          </a:prstGeom>
          <a:solidFill>
            <a:srgbClr val="FFFFFF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098548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LinearRegression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098548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0.9261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098548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0.9777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098548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8.1433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098548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6.7469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2098548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Strong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514600"/>
            <a:ext cx="10908792" cy="429768"/>
          </a:xfrm>
          <a:prstGeom prst="rect">
            <a:avLst/>
          </a:prstGeom>
          <a:solidFill>
            <a:srgbClr val="E0F5E7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528316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TunedSVR_RBF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2528316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0.9568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528316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0.9689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528316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9.6212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528316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7.3927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2528316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Recommended by CV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944368"/>
            <a:ext cx="10908792" cy="429768"/>
          </a:xfrm>
          <a:prstGeom prst="rect">
            <a:avLst/>
          </a:prstGeom>
          <a:solidFill>
            <a:srgbClr val="FFFFFF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958084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GradientBoostingRegressor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2958084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0.8958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2958084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0.9687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2958084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9.6557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958084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7.0889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2958084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Strong nonlinear 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374135"/>
            <a:ext cx="10908792" cy="429768"/>
          </a:xfrm>
          <a:prstGeom prst="rect">
            <a:avLst/>
          </a:prstGeom>
          <a:solidFill>
            <a:srgbClr val="FFFFFF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387851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RandomForestRegressor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3387851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0.8980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3387851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0.9442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3387851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12.8812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387851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9.3499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80" y="3387851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Lower performance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803903"/>
            <a:ext cx="10908792" cy="429768"/>
          </a:xfrm>
          <a:prstGeom prst="rect">
            <a:avLst/>
          </a:prstGeom>
          <a:solidFill>
            <a:srgbClr val="FFFFFF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817619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KNeighborsRegressor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3817619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0.9167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3817619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0.9440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5000" y="3817619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12.9039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3817619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8.9102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80" y="3817619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Lower performance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233672"/>
            <a:ext cx="10908792" cy="429768"/>
          </a:xfrm>
          <a:prstGeom prst="rect">
            <a:avLst/>
          </a:prstGeom>
          <a:solidFill>
            <a:srgbClr val="FFFFFF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247388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SVR_RBF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4247388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0.7848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0" y="4247388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0.8825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0" y="4247388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18.6958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4247388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11.6415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80" y="4247388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Untuned SVM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4663440"/>
            <a:ext cx="10908792" cy="429768"/>
          </a:xfrm>
          <a:prstGeom prst="rect">
            <a:avLst/>
          </a:prstGeom>
          <a:solidFill>
            <a:srgbClr val="FFFFFF"/>
          </a:solidFill>
          <a:ln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677155"/>
            <a:ext cx="29718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1">
                <a:solidFill>
                  <a:srgbClr val="1F2937"/>
                </a:solidFill>
                <a:latin typeface="Aptos"/>
              </a:rPr>
              <a:t>DummyRegressor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1880" y="4677155"/>
            <a:ext cx="114300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-0.0684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4677155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-0.0001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5000" y="4677155"/>
            <a:ext cx="105156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54.5510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4677155"/>
            <a:ext cx="9601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Aptos"/>
              </a:rPr>
              <a:t>41.3773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26680" y="4677155"/>
            <a:ext cx="2788920" cy="402335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Aptos"/>
              </a:rPr>
              <a:t>Baseline only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5010912"/>
            <a:ext cx="1051560" cy="201168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900" b="1">
                <a:solidFill>
                  <a:srgbClr val="235EA0"/>
                </a:solidFill>
                <a:latin typeface="Aptos"/>
              </a:rPr>
              <a:t>CONCLUSION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257800"/>
            <a:ext cx="10908792" cy="83210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" y="5376672"/>
            <a:ext cx="10515600" cy="530352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162B48"/>
                </a:solidFill>
                <a:latin typeface="Aptos"/>
              </a:rPr>
              <a:t>TunedSVR_RBF is the recommended model because it achieved the highest cross-validation R², providing the strongest average generalization across folds. Ridge achieved the highest test R² on the single hold-out split.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73952"/>
            <a:ext cx="10881360" cy="164592"/>
          </a:xfrm>
          <a:prstGeom prst="rect">
            <a:avLst/>
          </a:prstGeom>
          <a:noFill/>
        </p:spPr>
        <p:txBody>
          <a:bodyPr wrap="none" lIns="73152" rIns="73152" anchor="ctr">
            <a:spAutoFit/>
          </a:bodyPr>
          <a:lstStyle/>
          <a:p>
            <a:pPr algn="l"/>
            <a:r>
              <a:rPr sz="850" b="0">
                <a:solidFill>
                  <a:srgbClr val="566576"/>
                </a:solidFill>
                <a:latin typeface="Aptos"/>
              </a:rPr>
              <a:t>Note: R² indicates explained variance; RMSE and MAE are reported in the target variable’s units.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